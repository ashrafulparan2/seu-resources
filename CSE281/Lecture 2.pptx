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0" r:id="rId4"/>
    <p:sldId id="272" r:id="rId5"/>
    <p:sldId id="273" r:id="rId6"/>
    <p:sldId id="259" r:id="rId7"/>
    <p:sldId id="261" r:id="rId8"/>
    <p:sldId id="270" r:id="rId9"/>
    <p:sldId id="271" r:id="rId10"/>
    <p:sldId id="274" r:id="rId11"/>
    <p:sldId id="262" r:id="rId12"/>
    <p:sldId id="264" r:id="rId13"/>
    <p:sldId id="268" r:id="rId14"/>
    <p:sldId id="266" r:id="rId15"/>
    <p:sldId id="269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98" autoAdjust="0"/>
    <p:restoredTop sz="93979" autoAdjust="0"/>
  </p:normalViewPr>
  <p:slideViewPr>
    <p:cSldViewPr snapToGrid="0">
      <p:cViewPr varScale="1">
        <p:scale>
          <a:sx n="83" d="100"/>
          <a:sy n="83" d="100"/>
        </p:scale>
        <p:origin x="57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803405"/>
            <a:ext cx="9979891" cy="1825096"/>
          </a:xfrm>
        </p:spPr>
        <p:txBody>
          <a:bodyPr>
            <a:noAutofit/>
          </a:bodyPr>
          <a:lstStyle/>
          <a:p>
            <a:r>
              <a:rPr lang="en-US" sz="4400" dirty="0"/>
              <a:t>Introduction to Programming Language (Java)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3628501"/>
            <a:ext cx="3251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Fariha </a:t>
            </a:r>
            <a:r>
              <a:rPr lang="en-US" sz="2000" dirty="0" err="1"/>
              <a:t>Zahin</a:t>
            </a:r>
            <a:endParaRPr lang="en-US" sz="2000" dirty="0"/>
          </a:p>
          <a:p>
            <a:r>
              <a:rPr lang="en-US" sz="2000" dirty="0"/>
              <a:t>Lecturer</a:t>
            </a:r>
          </a:p>
          <a:p>
            <a:r>
              <a:rPr lang="en-US" sz="2000" dirty="0"/>
              <a:t>CSE, Southeast University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96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3782" y="1267891"/>
            <a:ext cx="9448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What is a Class?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class is a blueprint for creating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defines attributes (variables) and behaviors (methods).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027" y="3189118"/>
            <a:ext cx="3635834" cy="203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307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73017" y="1332499"/>
            <a:ext cx="890385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Creating a Class in Java</a:t>
            </a:r>
            <a:endParaRPr lang="en-US" dirty="0"/>
          </a:p>
          <a:p>
            <a:r>
              <a:rPr lang="en-US" dirty="0"/>
              <a:t>Define a class with attributes and methods.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41" y="2591913"/>
            <a:ext cx="8517200" cy="200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697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055D3-D8CF-3D20-01C1-770CB71B2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0906CC-9219-C9B7-C520-7BAAFBA48588}"/>
              </a:ext>
            </a:extLst>
          </p:cNvPr>
          <p:cNvSpPr/>
          <p:nvPr/>
        </p:nvSpPr>
        <p:spPr>
          <a:xfrm>
            <a:off x="1173017" y="1332499"/>
            <a:ext cx="890385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Attributes / Fields / Instance Variables</a:t>
            </a:r>
          </a:p>
          <a:p>
            <a:endParaRPr lang="en-US" dirty="0"/>
          </a:p>
          <a:p>
            <a:r>
              <a:rPr lang="en-US" dirty="0"/>
              <a:t>A variable which is created inside the class but outside the method is known as an instance variable.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67F7DD-575C-52FB-3835-99458DA27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69" y="3541134"/>
            <a:ext cx="636270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85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6AB86-1572-1DB1-2972-FD02B3C9D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CB2BF1-36D4-4AF7-B25C-3F810B519F26}"/>
              </a:ext>
            </a:extLst>
          </p:cNvPr>
          <p:cNvSpPr/>
          <p:nvPr/>
        </p:nvSpPr>
        <p:spPr>
          <a:xfrm>
            <a:off x="1173017" y="1332499"/>
            <a:ext cx="890385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Methods</a:t>
            </a:r>
          </a:p>
          <a:p>
            <a:endParaRPr lang="en-US" dirty="0"/>
          </a:p>
          <a:p>
            <a:r>
              <a:rPr lang="en-US" dirty="0"/>
              <a:t>In Java, a method is like a function which is used to expose the behavior of an</a:t>
            </a:r>
          </a:p>
          <a:p>
            <a:r>
              <a:rPr lang="en-US" dirty="0"/>
              <a:t>object.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3991CC-67B8-C898-9055-FB8B2F9BD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017" y="3114675"/>
            <a:ext cx="94488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196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9890" y="1351017"/>
            <a:ext cx="99383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What is an Object?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object is an instance of a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holds actual values and can invoke methods.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087" y="3110338"/>
            <a:ext cx="5785424" cy="87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904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46545" y="1234750"/>
            <a:ext cx="472757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 Objects in Java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1.Instantiate a class using the</a:t>
            </a:r>
            <a: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new keyword.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6545" y="2560982"/>
            <a:ext cx="491374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Understanding the new keyword:</a:t>
            </a:r>
            <a:endParaRPr lang="en-US" altLang="en-US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new </a:t>
            </a:r>
            <a:r>
              <a:rPr lang="en-US" dirty="0"/>
              <a:t>keyword dynamically allocates memory for an object.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It returns a reference to the newly created object.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A171A2-3BA8-300F-90A0-9868160DCD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387"/>
          <a:stretch>
            <a:fillRect/>
          </a:stretch>
        </p:blipFill>
        <p:spPr>
          <a:xfrm>
            <a:off x="5979822" y="992765"/>
            <a:ext cx="6008977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980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E67BA-1FD7-157D-D8C6-8D75CB311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99786B-26FF-B46E-F636-22BD37EC5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71" y="1400306"/>
            <a:ext cx="5680365" cy="388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Initializing Objects in Java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are 3 ways to Initialize an object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reference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en-US" altLang="en-US" dirty="0">
                <a:latin typeface="Arial" panose="020B0604020202020204" pitchFamily="34" charset="0"/>
              </a:rPr>
              <a:t>By method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Constructor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069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DF577-41CA-C7B0-3D53-D2ECEB5B2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825FAC-2817-A8FE-339C-36ECC571A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71" y="2508302"/>
            <a:ext cx="5680365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Initializing Objects in Java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reference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EE4A3F-12E3-E698-1316-F802DF6DDF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387"/>
          <a:stretch>
            <a:fillRect/>
          </a:stretch>
        </p:blipFill>
        <p:spPr>
          <a:xfrm>
            <a:off x="5720050" y="1574656"/>
            <a:ext cx="6008977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80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98061-0EBF-DAFC-729E-DDB7EA3FD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786261-F7E0-6EEC-5968-C783D9DB7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71" y="2508302"/>
            <a:ext cx="5680365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Initializing Objects in Java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By method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2D78BE-014F-7358-2040-45C99FA99E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245"/>
          <a:stretch>
            <a:fillRect/>
          </a:stretch>
        </p:blipFill>
        <p:spPr>
          <a:xfrm>
            <a:off x="4883727" y="602907"/>
            <a:ext cx="6431973" cy="606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73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055" y="1419523"/>
            <a:ext cx="72597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3 . By Constructors</a:t>
            </a:r>
          </a:p>
          <a:p>
            <a:r>
              <a:rPr lang="en-US" dirty="0"/>
              <a:t>A constructor initializes objects.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055" y="2403703"/>
            <a:ext cx="5265963" cy="325376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9055" y="2065854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Properties of a Constructor in Java</a:t>
            </a:r>
          </a:p>
          <a:p>
            <a:r>
              <a:rPr lang="en-US" dirty="0"/>
              <a:t>1.Same Name as Class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 constructor must have the same name as the class.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dirty="0">
                <a:latin typeface="Arial" panose="020B0604020202020204" pitchFamily="34" charset="0"/>
              </a:rPr>
              <a:t>No Return Type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 constructor does not have a return type, not even void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dirty="0">
                <a:latin typeface="Arial" panose="020B0604020202020204" pitchFamily="34" charset="0"/>
              </a:rPr>
              <a:t>Automatically Called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It is automatically invoked when an object of the class is created.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altLang="en-US" dirty="0">
                <a:latin typeface="Arial" panose="020B0604020202020204" pitchFamily="34" charset="0"/>
              </a:rPr>
              <a:t>Can Be Overloaded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Multiple constructors can be defined with different parameters (Constructor Overloading).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en-US" altLang="en-US" dirty="0">
                <a:latin typeface="Arial" panose="020B0604020202020204" pitchFamily="34" charset="0"/>
              </a:rPr>
              <a:t>Cannot Be Inherited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Constructors are not inherited by subclasses, but a subclass can call the parent class constructor using super keyword.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895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50982" y="2839366"/>
            <a:ext cx="581890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Constructors: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 Constructor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No parameters, initializes default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Parameterized Constructor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Takes arguments to initialize object properties.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Copy Constructor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Creates a new object by copying another object's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891" y="1496641"/>
            <a:ext cx="5745397" cy="499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356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273" y="943902"/>
            <a:ext cx="7296727" cy="546613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1517656"/>
            <a:ext cx="448887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Constructor Overloading in Java</a:t>
            </a:r>
          </a:p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Constructor overloading in Java allows a class to have multiple constructors with different parameter lists. The appropriate constructor is selected based on the arguments passed during object creation.</a:t>
            </a:r>
          </a:p>
        </p:txBody>
      </p:sp>
    </p:spTree>
    <p:extLst>
      <p:ext uri="{BB962C8B-B14F-4D97-AF65-F5344CB8AC3E}">
        <p14:creationId xmlns:p14="http://schemas.microsoft.com/office/powerpoint/2010/main" val="371897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8909" y="2056712"/>
            <a:ext cx="373149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Use of this keyword:</a:t>
            </a:r>
          </a:p>
          <a:p>
            <a:r>
              <a:rPr lang="en-US" dirty="0">
                <a:solidFill>
                  <a:schemeClr val="accent5"/>
                </a:solidFill>
              </a:rPr>
              <a:t>this</a:t>
            </a:r>
            <a:r>
              <a:rPr lang="en-US" dirty="0"/>
              <a:t> keyword in Java refers to the current object of the class. It is used to refer to the current object's instance variables, methods, and constructors. </a:t>
            </a:r>
          </a:p>
          <a:p>
            <a:r>
              <a:rPr lang="en-US" dirty="0"/>
              <a:t>It is commonly used in constructors to distinguish between instance variables and parameters when they have the same name.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357" y="1378420"/>
            <a:ext cx="7283842" cy="449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78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709" y="1371773"/>
            <a:ext cx="5950256" cy="4502381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98765" y="2062586"/>
            <a:ext cx="506152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 this() </a:t>
            </a:r>
            <a:r>
              <a:rPr lang="en-US" altLang="en-US" dirty="0">
                <a:latin typeface="Arial" panose="020B0604020202020204" pitchFamily="34" charset="0"/>
              </a:rPr>
              <a:t>must be the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 statement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a constructor.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constructor chaining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within the same class.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Constructor chaining </a:t>
            </a:r>
            <a:r>
              <a:rPr lang="en-US" dirty="0"/>
              <a:t>is the process of calling one constructor from another constructor within the same class or from a parent class using </a:t>
            </a:r>
            <a:r>
              <a:rPr lang="en-US" b="1" dirty="0"/>
              <a:t>this(). </a:t>
            </a:r>
            <a:r>
              <a:rPr lang="en-US" dirty="0"/>
              <a:t>It helps reduce code duplication and improves reusability.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963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109" y="1767480"/>
            <a:ext cx="8007292" cy="420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62814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9343</TotalTime>
  <Words>485</Words>
  <Application>Microsoft Office PowerPoint</Application>
  <PresentationFormat>Widescreen</PresentationFormat>
  <Paragraphs>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Century Gothic</vt:lpstr>
      <vt:lpstr>Vapor Trail</vt:lpstr>
      <vt:lpstr>Introduction to Programming Language (Java)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Fariha</dc:creator>
  <cp:lastModifiedBy>Ashraful Islam Paran</cp:lastModifiedBy>
  <cp:revision>29</cp:revision>
  <dcterms:created xsi:type="dcterms:W3CDTF">2025-03-04T09:32:42Z</dcterms:created>
  <dcterms:modified xsi:type="dcterms:W3CDTF">2026-02-17T17:35:34Z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2026-02-17T17:23:32Z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248d3fd5-07bc-47d9-926d-1556b634441f</vt:lpwstr>
  </property>
  <property fmtid="{D5CDD505-2E9C-101B-9397-08002B2CF9AE}" pid="7" name="MSIP_Label_defa4170-0d19-0005-0004-bc88714345d2_ActionId">
    <vt:lpwstr>702c0dd2-fe54-400e-a1c5-3e60c0d6d789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