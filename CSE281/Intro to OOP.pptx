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21"/>
  </p:notesMasterIdLst>
  <p:handoutMasterIdLst>
    <p:handoutMasterId r:id="rId22"/>
  </p:handoutMasterIdLst>
  <p:sldIdLst>
    <p:sldId id="296" r:id="rId3"/>
    <p:sldId id="282" r:id="rId4"/>
    <p:sldId id="302" r:id="rId5"/>
    <p:sldId id="303" r:id="rId6"/>
    <p:sldId id="304" r:id="rId7"/>
    <p:sldId id="308" r:id="rId8"/>
    <p:sldId id="305" r:id="rId9"/>
    <p:sldId id="307" r:id="rId10"/>
    <p:sldId id="306" r:id="rId11"/>
    <p:sldId id="309" r:id="rId12"/>
    <p:sldId id="310" r:id="rId13"/>
    <p:sldId id="311" r:id="rId14"/>
    <p:sldId id="312" r:id="rId15"/>
    <p:sldId id="313" r:id="rId16"/>
    <p:sldId id="315" r:id="rId17"/>
    <p:sldId id="316" r:id="rId18"/>
    <p:sldId id="317" r:id="rId19"/>
    <p:sldId id="300" r:id="rId20"/>
  </p:sldIdLst>
  <p:sldSz cx="9144000" cy="6858000" type="screen4x3"/>
  <p:notesSz cx="6781800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5126" autoAdjust="0"/>
  </p:normalViewPr>
  <p:slideViewPr>
    <p:cSldViewPr>
      <p:cViewPr varScale="1">
        <p:scale>
          <a:sx n="83" d="100"/>
          <a:sy n="83" d="100"/>
        </p:scale>
        <p:origin x="145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3331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69A310F-4202-8438-8A64-A6EAA2216A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84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188F33-C27D-B8E9-69F4-580B1B3A740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1750" y="0"/>
            <a:ext cx="29384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D1B3BB-71EF-494A-A079-319859A0495E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89E076-F336-0805-58C5-D120B33E73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38463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A1371E-CF09-A70E-8191-7D774531B6C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1750" y="9429750"/>
            <a:ext cx="2938463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FAD09B-76B5-4365-A4F7-E6E325F13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45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9E0037D-D825-F402-6403-3F86D06F4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84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397643-D233-D42E-DDDE-2AE16A1A09E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1750" y="0"/>
            <a:ext cx="293846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A4894A1-E498-4B9A-92E0-8F5A76D3C347}" type="datetimeFigureOut">
              <a:rPr lang="en-US"/>
              <a:pPr>
                <a:defRPr/>
              </a:pPr>
              <a:t>2/15/2026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67F4773-6FD9-1A77-D9EF-20F1FA4214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9638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181175F-D855-B9B8-8B49-3F87A20C09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7863" y="4714875"/>
            <a:ext cx="54260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8242D-92EA-1905-DA33-784FB8F027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3846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B318B-5AF5-A8A0-FD14-C6040DB77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1750" y="9428163"/>
            <a:ext cx="2938463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fld id="{18C85266-5F8F-4DCC-A92A-9455E9F4800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2EE7B37B-466E-F7A4-E6F5-10A5CF9348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8D928E60-1F65-9C4C-F34E-EA088777E6A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14BD904A-8035-9534-B276-E67CCE714E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fld id="{64FE1C19-B041-4F5C-93C6-80A9082B5EF7}" type="slidenum">
              <a:rPr lang="en-US" altLang="en-US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6149" name="Date Placeholder 4">
            <a:extLst>
              <a:ext uri="{FF2B5EF4-FFF2-40B4-BE49-F238E27FC236}">
                <a16:creationId xmlns:a16="http://schemas.microsoft.com/office/drawing/2014/main" id="{630576AC-9CB3-DEFB-230A-E57A48C617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936F901-E077-43FA-B78E-056948602F53}" type="datetime1">
              <a:rPr lang="en-US" altLang="en-US" smtClean="0"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2/15/2026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A08B49CA-6A74-7FCC-AC26-E8DB692C1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933825"/>
            <a:ext cx="8153400" cy="93503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pPr eaLnBrk="1" hangingPunct="1">
              <a:defRPr/>
            </a:pPr>
            <a:endParaRPr lang="ko-KR" altLang="en-US" sz="2400">
              <a:latin typeface="Arial Narrow" panose="020B0606020202030204" pitchFamily="34" charset="0"/>
            </a:endParaRP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8999A220-3678-21D9-41B2-1DB3B1CDC340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2636838"/>
            <a:ext cx="9144000" cy="71437"/>
          </a:xfrm>
          <a:prstGeom prst="rect">
            <a:avLst/>
          </a:prstGeom>
          <a:gradFill rotWithShape="1">
            <a:gsLst>
              <a:gs pos="0">
                <a:srgbClr val="766000"/>
              </a:gs>
              <a:gs pos="100000">
                <a:srgbClr val="FFDE53"/>
              </a:gs>
            </a:gsLst>
            <a:lin ang="0" scaled="1"/>
          </a:gradFill>
          <a:ln w="3175">
            <a:solidFill>
              <a:srgbClr val="FFDE53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pPr eaLnBrk="1" hangingPunct="1">
              <a:defRPr/>
            </a:pPr>
            <a:endParaRPr kumimoji="1" lang="ko-KR" altLang="en-US" sz="2400">
              <a:latin typeface="Tahoma" panose="020B0604030504040204" pitchFamily="34" charset="0"/>
            </a:endParaRPr>
          </a:p>
        </p:txBody>
      </p:sp>
      <p:sp>
        <p:nvSpPr>
          <p:cNvPr id="155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4625" y="981075"/>
            <a:ext cx="8718550" cy="1466850"/>
          </a:xfrm>
          <a:noFill/>
        </p:spPr>
        <p:txBody>
          <a:bodyPr lIns="91440" tIns="45720" rIns="91440" bIns="45720" anchor="b" anchorCtr="0"/>
          <a:lstStyle>
            <a:lvl1pPr>
              <a:defRPr sz="3600" b="1">
                <a:latin typeface="Times New Roman" pitchFamily="18" charset="0"/>
                <a:ea typeface="휴먼명조" pitchFamily="2" charset="-127"/>
                <a:cs typeface="Times New Roman" pitchFamily="18" charset="0"/>
              </a:defRPr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  <p:pic>
        <p:nvPicPr>
          <p:cNvPr id="38916" name="Picture 4">
            <a:extLst>
              <a:ext uri="{FF2B5EF4-FFF2-40B4-BE49-F238E27FC236}">
                <a16:creationId xmlns:a16="http://schemas.microsoft.com/office/drawing/2014/main" id="{09071824-4E9B-2E43-08AE-7571393A6A5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3225991"/>
            <a:ext cx="1676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927155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81870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29125"/>
            <a:ext cx="7772400" cy="1362075"/>
          </a:xfrm>
        </p:spPr>
        <p:txBody>
          <a:bodyPr anchor="t"/>
          <a:lstStyle>
            <a:lvl1pPr algn="l">
              <a:defRPr sz="2800" b="1" cap="all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181277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0825" y="547688"/>
            <a:ext cx="4244975" cy="57610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547688"/>
            <a:ext cx="4244975" cy="57610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9574050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53937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825839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620051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2346464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220075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437909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308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308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7460866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8174515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DC243-AD02-8BB9-382F-A4BECD7F9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E0803B-ADAE-491D-9D63-FA397C99A151}" type="datetimeFigureOut">
              <a:rPr lang="en-US"/>
              <a:pPr>
                <a:defRPr/>
              </a:pPr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B4AEB-72FD-63AE-96E3-8D4363F85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E5D13-9AB2-C88F-9801-077167141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1C2105-7155-4D71-A2C7-48B1BF0B63C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4028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7FAB7-B539-83B2-F593-C35344A91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8D98D-8B71-4C1C-AA89-A299B18A2B52}" type="datetimeFigureOut">
              <a:rPr lang="en-US"/>
              <a:pPr>
                <a:defRPr/>
              </a:pPr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5512C-7CE1-8F01-E5AF-F64C17A2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A0EBB-4598-01CC-B3F7-B1F867F69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4A1500-759D-4284-B980-6A2E3E29DA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50928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0B1F1-576A-CBD0-92A2-3B42CEBF9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938083-E81C-493D-8433-D2AD25934E99}" type="datetimeFigureOut">
              <a:rPr lang="en-US"/>
              <a:pPr>
                <a:defRPr/>
              </a:pPr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0A955-0E17-D280-B5A7-447489D95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7F563-1BC3-0E7C-34B5-B731A04AE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C379CB-4CAC-456D-948F-06F00CF258E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4872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5838CD5-6466-15F6-8C5E-13740EAD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7BCE5B-392E-4C0D-ADC2-464B7B651557}" type="datetimeFigureOut">
              <a:rPr lang="en-US"/>
              <a:pPr>
                <a:defRPr/>
              </a:pPr>
              <a:t>2/15/2026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B553111-B0CE-8F3F-373C-3FF1AF17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58095AA-DD89-02FB-8A62-2DD557B58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D91AEA-D9C7-4617-9806-CFA8AC78D2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92017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41C580D-06EA-3C7A-6175-1BBCEF1A9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7D3F4F-9CFA-4DC4-86B7-771FEDFAF7D6}" type="datetimeFigureOut">
              <a:rPr lang="en-US"/>
              <a:pPr>
                <a:defRPr/>
              </a:pPr>
              <a:t>2/15/2026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6620131-BF58-F926-A355-28B5AA39D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22B042E-704D-CF0A-C0F1-3F85C3C66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03F267-ABA2-4148-B068-0609CE7E19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00632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FC9F9D-C4FB-93CA-A304-2278F75BA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4C180A-5C26-491B-95EB-786B43177C31}" type="datetimeFigureOut">
              <a:rPr lang="en-US"/>
              <a:pPr>
                <a:defRPr/>
              </a:pPr>
              <a:t>2/15/2026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0DAAA83-5F7E-757B-DCA4-9B9A64900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00CA8D8-179F-DCB5-5726-566152106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907E10-8831-4BD2-B359-501B98C0FA1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6140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7E340FA-C07B-81BD-3689-40BC0B85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5DB5FF-6543-4521-BE66-563996A98859}" type="datetimeFigureOut">
              <a:rPr lang="en-US"/>
              <a:pPr>
                <a:defRPr/>
              </a:pPr>
              <a:t>2/15/2026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B2119CF-1E7F-0D18-4EA9-08EE738F4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DC41CB-FCD1-51B0-58AD-B5728C4E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E38970-A82C-47AB-90C7-3E52F51C21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05552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FD6F117-4201-48DC-7A9A-1E84EA218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291B9-4A19-457E-A737-1F7CBF8AB5A8}" type="datetimeFigureOut">
              <a:rPr lang="en-US"/>
              <a:pPr>
                <a:defRPr/>
              </a:pPr>
              <a:t>2/15/2026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D0B0B04-B944-913B-1E03-0A65F2F7A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A094B3F-BC7F-040A-0089-00DF1C7E4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7FC32D-2547-48D6-92A0-0F400DA78C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13897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4384682-7CB7-4C97-02EB-E242504D3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A3B2A9-6336-4D64-B49A-0F90598F3777}" type="datetimeFigureOut">
              <a:rPr lang="en-US"/>
              <a:pPr>
                <a:defRPr/>
              </a:pPr>
              <a:t>2/15/2026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D9E2714-E9BD-31D9-146F-25BAB6FB2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B550F4D-02E2-3B7F-9656-94549F5C8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554ABD-9943-4C09-865A-076E07FF177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77023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2AE87-08FC-6605-C1B4-95822814A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70D622-6EC2-4BFD-BDFB-290DC1BE33AE}" type="datetimeFigureOut">
              <a:rPr lang="en-US"/>
              <a:pPr>
                <a:defRPr/>
              </a:pPr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08644-0D36-5AB2-12C1-C9D2713DA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DAC03-699D-E68B-B81E-71DE1D4D4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3F4B73-5FF2-40C8-9157-D70DB3E756F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75345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70014-3865-84F4-9345-0ECE3947D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38194B-009E-437A-AAFB-395FA7A3EED5}" type="datetimeFigureOut">
              <a:rPr lang="en-US"/>
              <a:pPr>
                <a:defRPr/>
              </a:pPr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68158-6A46-129B-DDAE-D8736AE33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E8715-2E59-251E-582A-68E30BEBE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091B5B-849A-44D0-8FF2-CD379BD7DB8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8116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53693DC-B67B-976F-C2E6-0FD7AFB041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836613"/>
          </a:xfrm>
          <a:prstGeom prst="rect">
            <a:avLst/>
          </a:prstGeom>
          <a:gradFill rotWithShape="0">
            <a:gsLst>
              <a:gs pos="0">
                <a:srgbClr val="D0D0D0"/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000" tIns="10800" rIns="18000" bIns="1080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Title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F3A26DE-0511-D7B1-690A-C0940CA4DB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4463" y="928688"/>
            <a:ext cx="8642350" cy="547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Master </a:t>
            </a:r>
            <a:endParaRPr lang="ko-KR" altLang="en-US"/>
          </a:p>
          <a:p>
            <a:pPr lvl="1"/>
            <a:r>
              <a:rPr lang="en-US" altLang="ko-KR"/>
              <a:t>Master </a:t>
            </a:r>
          </a:p>
          <a:p>
            <a:pPr lvl="2"/>
            <a:r>
              <a:rPr lang="en-US" altLang="ko-KR"/>
              <a:t>Master</a:t>
            </a:r>
            <a:endParaRPr lang="ko-KR" altLang="en-US"/>
          </a:p>
          <a:p>
            <a:pPr lvl="3"/>
            <a:r>
              <a:rPr lang="en-US" altLang="ko-KR"/>
              <a:t>Master</a:t>
            </a:r>
            <a:endParaRPr lang="ko-KR" altLang="en-US"/>
          </a:p>
          <a:p>
            <a:pPr lvl="4"/>
            <a:r>
              <a:rPr lang="en-US" altLang="ko-KR"/>
              <a:t>Master</a:t>
            </a:r>
            <a:endParaRPr lang="ko-KR" altLang="en-US"/>
          </a:p>
        </p:txBody>
      </p:sp>
      <p:sp>
        <p:nvSpPr>
          <p:cNvPr id="154630" name="Rectangle 6">
            <a:extLst>
              <a:ext uri="{FF2B5EF4-FFF2-40B4-BE49-F238E27FC236}">
                <a16:creationId xmlns:a16="http://schemas.microsoft.com/office/drawing/2014/main" id="{79F1CF27-36D9-E7A5-8AAB-665931D0D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pPr algn="r" eaLnBrk="1" hangingPunct="1"/>
            <a:fld id="{695CF2BD-A020-4F8F-B153-1D874230EF26}" type="slidenum">
              <a:rPr lang="ko-KR" altLang="en-US" sz="1400">
                <a:latin typeface="Tahoma" panose="020B0604030504040204" pitchFamily="34" charset="0"/>
                <a:cs typeface="Arial" panose="020B0604020202020204" pitchFamily="34" charset="0"/>
              </a:rPr>
              <a:pPr algn="r" eaLnBrk="1" hangingPunct="1"/>
              <a:t>‹#›</a:t>
            </a:fld>
            <a:endParaRPr lang="en-US" altLang="ko-KR" sz="140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30" name="Rectangle 4">
            <a:extLst>
              <a:ext uri="{FF2B5EF4-FFF2-40B4-BE49-F238E27FC236}">
                <a16:creationId xmlns:a16="http://schemas.microsoft.com/office/drawing/2014/main" id="{EBC863D8-9C76-C0C9-79DF-9FF7D66F259D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351588"/>
            <a:ext cx="9144000" cy="69850"/>
          </a:xfrm>
          <a:prstGeom prst="rect">
            <a:avLst/>
          </a:prstGeom>
          <a:gradFill rotWithShape="0">
            <a:gsLst>
              <a:gs pos="0">
                <a:srgbClr val="333333"/>
              </a:gs>
              <a:gs pos="100000">
                <a:srgbClr val="D0D0D0"/>
              </a:gs>
            </a:gsLst>
            <a:lin ang="0" scaled="1"/>
          </a:gradFill>
          <a:ln w="3175">
            <a:solidFill>
              <a:srgbClr val="ABABAB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pPr eaLnBrk="1" hangingPunct="1">
              <a:defRPr/>
            </a:pPr>
            <a:endParaRPr kumimoji="1" lang="ko-KR" altLang="en-US" sz="2400">
              <a:latin typeface="Tahoma" panose="020B0604030504040204" pitchFamily="34" charset="0"/>
            </a:endParaRPr>
          </a:p>
        </p:txBody>
      </p:sp>
      <p:sp>
        <p:nvSpPr>
          <p:cNvPr id="1031" name="Rectangle 8">
            <a:extLst>
              <a:ext uri="{FF2B5EF4-FFF2-40B4-BE49-F238E27FC236}">
                <a16:creationId xmlns:a16="http://schemas.microsoft.com/office/drawing/2014/main" id="{DD2009FF-6397-81E4-6FFA-F463FDE116B0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857250"/>
            <a:ext cx="9144000" cy="71438"/>
          </a:xfrm>
          <a:prstGeom prst="rect">
            <a:avLst/>
          </a:prstGeom>
          <a:gradFill rotWithShape="1">
            <a:gsLst>
              <a:gs pos="0">
                <a:srgbClr val="766000"/>
              </a:gs>
              <a:gs pos="100000">
                <a:srgbClr val="FFDE53"/>
              </a:gs>
            </a:gsLst>
            <a:lin ang="0" scaled="1"/>
          </a:gradFill>
          <a:ln w="3175">
            <a:solidFill>
              <a:srgbClr val="E8BC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pPr eaLnBrk="1" hangingPunct="1">
              <a:defRPr/>
            </a:pPr>
            <a:endParaRPr kumimoji="1" lang="ko-KR" altLang="en-US" sz="240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</p:sldLayoutIdLst>
  <p:transition/>
  <p:txStyles>
    <p:titleStyle>
      <a:lvl1pPr algn="ctr" rtl="0" eaLnBrk="0" fontAlgn="ctr" latinLnBrk="1" hangingPunct="0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Times New Roman" pitchFamily="18" charset="0"/>
          <a:ea typeface="+mj-ea"/>
          <a:cs typeface="Times New Roman" pitchFamily="18" charset="0"/>
        </a:defRPr>
      </a:lvl1pPr>
      <a:lvl2pPr algn="ctr" rtl="0" eaLnBrk="0" fontAlgn="ctr" latinLnBrk="1" hangingPunct="0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Times New Roman" pitchFamily="18" charset="0"/>
          <a:ea typeface="Gulim" pitchFamily="50" charset="-127"/>
          <a:cs typeface="Times New Roman" pitchFamily="18" charset="0"/>
        </a:defRPr>
      </a:lvl2pPr>
      <a:lvl3pPr algn="ctr" rtl="0" eaLnBrk="0" fontAlgn="ctr" latinLnBrk="1" hangingPunct="0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Times New Roman" pitchFamily="18" charset="0"/>
          <a:ea typeface="Gulim" pitchFamily="50" charset="-127"/>
          <a:cs typeface="Times New Roman" pitchFamily="18" charset="0"/>
        </a:defRPr>
      </a:lvl3pPr>
      <a:lvl4pPr algn="ctr" rtl="0" eaLnBrk="0" fontAlgn="ctr" latinLnBrk="1" hangingPunct="0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Times New Roman" pitchFamily="18" charset="0"/>
          <a:ea typeface="Gulim" pitchFamily="50" charset="-127"/>
          <a:cs typeface="Times New Roman" pitchFamily="18" charset="0"/>
        </a:defRPr>
      </a:lvl4pPr>
      <a:lvl5pPr algn="ctr" rtl="0" eaLnBrk="0" fontAlgn="ctr" latinLnBrk="1" hangingPunct="0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Times New Roman" pitchFamily="18" charset="0"/>
          <a:ea typeface="Gulim" pitchFamily="50" charset="-127"/>
          <a:cs typeface="Times New Roman" pitchFamily="18" charset="0"/>
        </a:defRPr>
      </a:lvl5pPr>
      <a:lvl6pPr marL="457200" algn="ctr" rtl="0" eaLnBrk="1" fontAlgn="ctr" latinLnBrk="1" hangingPunct="1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Arial Narrow" pitchFamily="34" charset="0"/>
          <a:ea typeface="Gulim" pitchFamily="50" charset="-127"/>
        </a:defRPr>
      </a:lvl6pPr>
      <a:lvl7pPr marL="914400" algn="ctr" rtl="0" eaLnBrk="1" fontAlgn="ctr" latinLnBrk="1" hangingPunct="1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Arial Narrow" pitchFamily="34" charset="0"/>
          <a:ea typeface="Gulim" pitchFamily="50" charset="-127"/>
        </a:defRPr>
      </a:lvl7pPr>
      <a:lvl8pPr marL="1371600" algn="ctr" rtl="0" eaLnBrk="1" fontAlgn="ctr" latinLnBrk="1" hangingPunct="1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Arial Narrow" pitchFamily="34" charset="0"/>
          <a:ea typeface="Gulim" pitchFamily="50" charset="-127"/>
        </a:defRPr>
      </a:lvl8pPr>
      <a:lvl9pPr marL="1828800" algn="ctr" rtl="0" eaLnBrk="1" fontAlgn="ctr" latinLnBrk="1" hangingPunct="1">
        <a:spcBef>
          <a:spcPct val="0"/>
        </a:spcBef>
        <a:spcAft>
          <a:spcPct val="0"/>
        </a:spcAft>
        <a:defRPr kumimoji="1" sz="3200">
          <a:solidFill>
            <a:schemeClr val="bg2"/>
          </a:solidFill>
          <a:latin typeface="Arial Narrow" pitchFamily="34" charset="0"/>
          <a:ea typeface="Gulim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Blip>
          <a:blip r:embed="rId14"/>
        </a:buBlip>
        <a:defRPr kumimoji="1" sz="28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Blip>
          <a:blip r:embed="rId14"/>
        </a:buBlip>
        <a:defRPr kumimoji="1" sz="24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Blip>
          <a:blip r:embed="rId14"/>
        </a:buBlip>
        <a:defRPr kumimoji="1" sz="20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Blip>
          <a:blip r:embed="rId14"/>
        </a:buBlip>
        <a:defRPr kumimoji="1" sz="20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Blip>
          <a:blip r:embed="rId14"/>
        </a:buBlip>
        <a:defRPr kumimoji="1" sz="16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Blip>
          <a:blip r:embed="rId14"/>
        </a:buBlip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Blip>
          <a:blip r:embed="rId14"/>
        </a:buBlip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Blip>
          <a:blip r:embed="rId14"/>
        </a:buBlip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Blip>
          <a:blip r:embed="rId14"/>
        </a:buBlip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FE88AB08-D0DC-C807-1728-71492F35CDC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93FAB4CB-9B8B-A78B-0DF7-C2D915B605B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1F99A-696E-32F2-D872-F9CBD6E9BD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C0C74DFB-7CC9-47AF-914D-DED03C1FB174}" type="datetimeFigureOut">
              <a:rPr lang="en-US"/>
              <a:pPr>
                <a:defRPr/>
              </a:pPr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2C2F1-5095-F7EA-54AF-179E38C946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C6BBB-9274-8F1E-B30B-C5B3204078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fld id="{40350274-D758-44A3-B3B8-3F5249C89EE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26586-C645-EF12-A232-ACF78AB37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739775"/>
            <a:ext cx="7772400" cy="1470025"/>
          </a:xfrm>
        </p:spPr>
        <p:txBody>
          <a:bodyPr>
            <a:norm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Introduction to Object Oriented         Programming</a:t>
            </a:r>
            <a:endParaRPr lang="en-US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23" name="Slide Number Placeholder 4">
            <a:extLst>
              <a:ext uri="{FF2B5EF4-FFF2-40B4-BE49-F238E27FC236}">
                <a16:creationId xmlns:a16="http://schemas.microsoft.com/office/drawing/2014/main" id="{DE510F9D-0F79-1F0C-AE42-2AA19C12D86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8647113" y="6408738"/>
            <a:ext cx="366712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9pPr>
          </a:lstStyle>
          <a:p>
            <a:pPr eaLnBrk="1" latinLnBrk="0" hangingPunct="1">
              <a:spcBef>
                <a:spcPct val="0"/>
              </a:spcBef>
              <a:buClrTx/>
              <a:buSzTx/>
              <a:buFontTx/>
              <a:buNone/>
            </a:pPr>
            <a:fld id="{430E742C-99F8-4FB1-8203-29C6E6B6C862}" type="slidenum">
              <a:rPr kumimoji="0" lang="en-US" altLang="en-US" sz="1800">
                <a:latin typeface="Arial Narrow" panose="020B0606020202030204" pitchFamily="34" charset="0"/>
                <a:cs typeface="Arial" panose="020B0604020202020204" pitchFamily="34" charset="0"/>
              </a:rPr>
              <a:pPr eaLnBrk="1" latinLnBrk="0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kumimoji="0" lang="en-US" altLang="en-US" sz="180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5124" name="TextBox 2">
            <a:extLst>
              <a:ext uri="{FF2B5EF4-FFF2-40B4-BE49-F238E27FC236}">
                <a16:creationId xmlns:a16="http://schemas.microsoft.com/office/drawing/2014/main" id="{9D47164C-384F-DB37-F284-AFF324907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5334000"/>
            <a:ext cx="4552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9pPr>
          </a:lstStyle>
          <a:p>
            <a:pPr algn="ctr" eaLnBrk="1" latinLnBrk="0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dirty="0"/>
              <a:t>Dept.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6A585749-4F42-07A2-B2D8-B2B86947ED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Computer Programming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2C9062BF-3B07-7650-326D-CDF1CBF270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990600"/>
            <a:ext cx="8915400" cy="5334000"/>
          </a:xfrm>
        </p:spPr>
        <p:txBody>
          <a:bodyPr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A </a:t>
            </a:r>
            <a:r>
              <a:rPr lang="en-US" altLang="en-US" sz="2400" b="1"/>
              <a:t>computer program</a:t>
            </a:r>
            <a:r>
              <a:rPr lang="en-US" altLang="en-US" sz="2400"/>
              <a:t> is a step-by-step set of instructions for a         computer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 b="1"/>
              <a:t>Programming Language</a:t>
            </a:r>
            <a:r>
              <a:rPr lang="en-US" altLang="en-US" sz="2400"/>
              <a:t> allow programmers to write a program     that can perform a specific task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With time and progress in technology, writing a program became   much easier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A low level language are often described as machine oriented           languages that closer to the hardware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High-level languages represent a giant leap towards easier                programming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There are five generations of programming language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50526756-28A0-BFB8-7932-D6F8DE0323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Generation of Programming Language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FAD3401B-7850-CFE0-E8E5-6EA4D6766FB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300" y="990600"/>
          <a:ext cx="8915400" cy="4668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1233167401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3346977665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3413068565"/>
                    </a:ext>
                  </a:extLst>
                </a:gridCol>
              </a:tblGrid>
              <a:tr h="37086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Generation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Explanation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Example of Code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3710205704"/>
                  </a:ext>
                </a:extLst>
              </a:tr>
              <a:tr h="640124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lang="en-US" sz="1800" baseline="30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generation (Machine Language)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Uses a series of binary digits (1s and 0s)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10001110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252758438"/>
                  </a:ext>
                </a:extLst>
              </a:tr>
              <a:tr h="914462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en-US" sz="1800" baseline="30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nd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generation (Assembly Language)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Programmer writes instructions using symbolic instruction codes </a:t>
                      </a:r>
                    </a:p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that are meaningful abbreviations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 1001,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1100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311880144"/>
                  </a:ext>
                </a:extLst>
              </a:tr>
              <a:tr h="914462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lang="en-US" sz="1800" baseline="30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rd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generation (Procedural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Language)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Make complex programming simpler and easier to read, write and maintain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x=10+5;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305590358"/>
                  </a:ext>
                </a:extLst>
              </a:tr>
              <a:tr h="640124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r>
                        <a:rPr lang="en-US" sz="1800" baseline="30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generation (Non-procedural Language)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Enables users to access data in a database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SELECT id FROM student</a:t>
                      </a: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3660284861"/>
                  </a:ext>
                </a:extLst>
              </a:tr>
              <a:tr h="1188801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r>
                        <a:rPr lang="en-US" sz="1800" baseline="30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generation (Visual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or Natural Language)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Provides a visual or graphical </a:t>
                      </a:r>
                    </a:p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interface, called a visual </a:t>
                      </a:r>
                    </a:p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programming environment, for </a:t>
                      </a:r>
                    </a:p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creating source codes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3560079934"/>
                  </a:ext>
                </a:extLst>
              </a:tr>
            </a:tbl>
          </a:graphicData>
        </a:graphic>
      </p:graphicFrame>
      <p:pic>
        <p:nvPicPr>
          <p:cNvPr id="9249" name="Picture 2">
            <a:extLst>
              <a:ext uri="{FF2B5EF4-FFF2-40B4-BE49-F238E27FC236}">
                <a16:creationId xmlns:a16="http://schemas.microsoft.com/office/drawing/2014/main" id="{4E48CBBC-6A0D-D0DA-AC7B-5D087A0F8F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4546600"/>
            <a:ext cx="1943100" cy="102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D9EABF-94FD-F19B-E88D-F5B331DB9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0" y="5715000"/>
            <a:ext cx="6324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9pPr>
          </a:lstStyle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r>
              <a:rPr kumimoji="0" lang="en-US" altLang="en-US" sz="1800" baseline="30000">
                <a:solidFill>
                  <a:srgbClr val="FF0000"/>
                </a:solidFill>
                <a:latin typeface="Arial" panose="020B0604020202020204" pitchFamily="34" charset="0"/>
              </a:rPr>
              <a:t>st</a:t>
            </a:r>
            <a:r>
              <a:rPr kumimoji="0"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 and 2</a:t>
            </a:r>
            <a:r>
              <a:rPr kumimoji="0" lang="en-US" altLang="en-US" sz="1800" baseline="30000">
                <a:solidFill>
                  <a:srgbClr val="FF0000"/>
                </a:solidFill>
                <a:latin typeface="Arial" panose="020B0604020202020204" pitchFamily="34" charset="0"/>
              </a:rPr>
              <a:t>nd</a:t>
            </a:r>
            <a:r>
              <a:rPr kumimoji="0"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 generation are considered as low-level language and the rest are considered as high-level language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0B3C5AB2-A23A-B461-C0E0-B9CB37671F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Approaches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BC459ADE-6F83-DAF0-D8AD-F2CFED7F24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066800"/>
            <a:ext cx="8915400" cy="5334000"/>
          </a:xfrm>
        </p:spPr>
        <p:txBody>
          <a:bodyPr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Since the invention of the computer, many programming  approaches have been tried.</a:t>
            </a:r>
          </a:p>
          <a:p>
            <a:pPr lvl="1"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/>
              <a:t>Structured Programming</a:t>
            </a:r>
          </a:p>
          <a:p>
            <a:pPr lvl="1"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/>
              <a:t>Modular Programming</a:t>
            </a:r>
          </a:p>
          <a:p>
            <a:pPr lvl="1"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/>
              <a:t>Object Oriented Programming</a:t>
            </a:r>
          </a:p>
          <a:p>
            <a:pPr lvl="1"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/>
              <a:t>Top-down &amp; Bottom-up Programming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sz="2400"/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The primary motivation in each case has been the concern to handle the increasing complexity of programs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E5F31075-4FC2-B744-6ACC-60876D4A8B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Structured Programming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764CFAD0-1C94-28A2-97F4-58E4CEB89E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990600"/>
            <a:ext cx="8915400" cy="5334000"/>
          </a:xfrm>
        </p:spPr>
        <p:txBody>
          <a:bodyPr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Consists of writing a list of instructions for the computer to follow   and organize these instructions into groups known as functions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It also supports modular programming and follows top-down 	     approach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Usually functions share global data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Global data are more vulnerable to change by a function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In a large program it becomes difficult to identify which data is used by which function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Can not model real-world problems very easily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7BD7D671-17B3-6A2A-5FA2-C15162E15A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Structured Programming (Contd.)</a:t>
            </a:r>
          </a:p>
        </p:txBody>
      </p:sp>
      <p:pic>
        <p:nvPicPr>
          <p:cNvPr id="12291" name="Picture 2" descr="Image result for procedure oriented programming figure">
            <a:extLst>
              <a:ext uri="{FF2B5EF4-FFF2-40B4-BE49-F238E27FC236}">
                <a16:creationId xmlns:a16="http://schemas.microsoft.com/office/drawing/2014/main" id="{127C749D-B023-31DA-35A1-65937786E8D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0" y="1066800"/>
            <a:ext cx="4075113" cy="2238375"/>
          </a:xfrm>
          <a:noFill/>
        </p:spPr>
      </p:pic>
      <p:pic>
        <p:nvPicPr>
          <p:cNvPr id="12292" name="Picture 4" descr="Image result for procedure oriented programming figure">
            <a:extLst>
              <a:ext uri="{FF2B5EF4-FFF2-40B4-BE49-F238E27FC236}">
                <a16:creationId xmlns:a16="http://schemas.microsoft.com/office/drawing/2014/main" id="{E4BB72FF-302C-D6BD-45D5-918F3F8D2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175" y="3657600"/>
            <a:ext cx="3857625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3" name="TextBox 5">
            <a:extLst>
              <a:ext uri="{FF2B5EF4-FFF2-40B4-BE49-F238E27FC236}">
                <a16:creationId xmlns:a16="http://schemas.microsoft.com/office/drawing/2014/main" id="{51DA6E3C-6EE3-81BF-AB54-8490D45BD6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038" y="5791200"/>
            <a:ext cx="7019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Blip>
                <a:blip r:embed="rId4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Blip>
                <a:blip r:embed="rId4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4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4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4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4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4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>
                <a:latin typeface="Arial" panose="020B0604020202020204" pitchFamily="34" charset="0"/>
              </a:rPr>
              <a:t>Fig. Organizations of data and functions in structured programming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19672577-A4D8-CB2D-421B-AD47564DA5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 Oriented Programming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30F8AAF0-B653-7813-2AA9-DF3B64192D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4300" y="914400"/>
            <a:ext cx="8915400" cy="5334000"/>
          </a:xfrm>
        </p:spPr>
        <p:txBody>
          <a:bodyPr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Object oriented programming is a programming approach that relies on the concept of classes and objects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It removes some of the flaws encountered in the procedural 	     approach of programming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OOP treats data as a critical element and does not allow data to flow freely around the system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Programs are divided into objects where the data and functions are  built around these objects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Objects may communicate with each other via functions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New data and functions can be added whenever necessary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E03DF5F9-93E8-B426-7E1C-9A0F12158A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 Oriented Programming (Contd.)</a:t>
            </a:r>
          </a:p>
        </p:txBody>
      </p:sp>
      <p:pic>
        <p:nvPicPr>
          <p:cNvPr id="14339" name="Picture 2" descr="Image result for procedure oriented programming figure">
            <a:extLst>
              <a:ext uri="{FF2B5EF4-FFF2-40B4-BE49-F238E27FC236}">
                <a16:creationId xmlns:a16="http://schemas.microsoft.com/office/drawing/2014/main" id="{A644C01C-8AD2-053A-4A13-701B60A1918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0" y="1031875"/>
            <a:ext cx="5203825" cy="4410075"/>
          </a:xfrm>
          <a:noFill/>
        </p:spPr>
      </p:pic>
      <p:sp>
        <p:nvSpPr>
          <p:cNvPr id="14340" name="TextBox 1">
            <a:extLst>
              <a:ext uri="{FF2B5EF4-FFF2-40B4-BE49-F238E27FC236}">
                <a16:creationId xmlns:a16="http://schemas.microsoft.com/office/drawing/2014/main" id="{446817D3-3044-CD79-FCF0-E4C7F67E4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8663" y="5421313"/>
            <a:ext cx="5146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Blip>
                <a:blip r:embed="rId3"/>
              </a:buBlip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Gulim" panose="020B0600000101010101" pitchFamily="34" charset="-127"/>
                <a:cs typeface="Times New Roman" panose="02020603050405020304" pitchFamily="18" charset="0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>
                <a:latin typeface="Arial" panose="020B0604020202020204" pitchFamily="34" charset="0"/>
              </a:rPr>
              <a:t>Fig. Organizations of data and functions in OOP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6EBAFE61-3C85-4470-1105-51694ECCEB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Structured vs Objected-oriented Programming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3781B452-7A17-143C-869D-D877C326593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04800" y="1219200"/>
          <a:ext cx="8153400" cy="4114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700">
                  <a:extLst>
                    <a:ext uri="{9D8B030D-6E8A-4147-A177-3AD203B41FA5}">
                      <a16:colId xmlns:a16="http://schemas.microsoft.com/office/drawing/2014/main" val="954732982"/>
                    </a:ext>
                  </a:extLst>
                </a:gridCol>
                <a:gridCol w="4076700">
                  <a:extLst>
                    <a:ext uri="{9D8B030D-6E8A-4147-A177-3AD203B41FA5}">
                      <a16:colId xmlns:a16="http://schemas.microsoft.com/office/drawing/2014/main" val="1543579360"/>
                    </a:ext>
                  </a:extLst>
                </a:gridCol>
              </a:tblGrid>
              <a:tr h="55217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Structured 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Objected Oriented Programming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990377"/>
                  </a:ext>
                </a:extLst>
              </a:tr>
              <a:tr h="953061"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Program is divided into a number of sub-modules or functions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 Program is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organized by having a number of classes and objects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222482"/>
                  </a:ext>
                </a:extLst>
              </a:tr>
              <a:tr h="55217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ii) It follows top-down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ii) It follows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bottom-up approach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541570"/>
                  </a:ext>
                </a:extLst>
              </a:tr>
              <a:tr h="953061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iii) No encapsulation. Data and functions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are separate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iii)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Allow encapsulation. Data and functions are put together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2283807"/>
                  </a:ext>
                </a:extLst>
              </a:tr>
              <a:tr h="55217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iv)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Software reuse is not possible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iv)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Software reuse is possible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082568"/>
                  </a:ext>
                </a:extLst>
              </a:tr>
              <a:tr h="55217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v)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Example: ALGOL, PASCAL, C 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v)</a:t>
                      </a:r>
                      <a:r>
                        <a:rPr lang="en-US" sz="1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Example: Java, Python, C++</a:t>
                      </a:r>
                      <a:endParaRPr lang="en-US"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543617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C46426C2-AE55-3E5D-EA6D-5B5CAA1299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OOP Basic Concepts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9C996D26-8AB9-20CC-5128-4B627FDFD2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4300" y="914400"/>
            <a:ext cx="8648700" cy="5334000"/>
          </a:xfrm>
        </p:spPr>
        <p:txBody>
          <a:bodyPr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 b="1" u="sng"/>
              <a:t>Object</a:t>
            </a:r>
            <a:r>
              <a:rPr lang="en-US" altLang="en-US" sz="2400" b="1"/>
              <a:t>:</a:t>
            </a:r>
            <a:r>
              <a:rPr lang="en-US" altLang="en-US" sz="2400"/>
              <a:t> Represents entity in an object-oriented system. It can be   person, place, bank account or a table of data etc.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Object is anything to which you can apply a concept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Object contains data and methods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sz="2400"/>
          </a:p>
        </p:txBody>
      </p:sp>
      <p:sp>
        <p:nvSpPr>
          <p:cNvPr id="17412" name="TextBox 2">
            <a:extLst>
              <a:ext uri="{FF2B5EF4-FFF2-40B4-BE49-F238E27FC236}">
                <a16:creationId xmlns:a16="http://schemas.microsoft.com/office/drawing/2014/main" id="{BF58E70F-F6F2-2D91-6FB7-E0CC0463CE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040313"/>
            <a:ext cx="2397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Fig: Example of objects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9C61B0-64F5-6BB7-F590-91919DDE8511}"/>
              </a:ext>
            </a:extLst>
          </p:cNvPr>
          <p:cNvSpPr txBox="1"/>
          <p:nvPr/>
        </p:nvSpPr>
        <p:spPr>
          <a:xfrm>
            <a:off x="2387600" y="4624388"/>
            <a:ext cx="8890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</p:txBody>
      </p:sp>
      <p:sp>
        <p:nvSpPr>
          <p:cNvPr id="17414" name="TextBox 6">
            <a:extLst>
              <a:ext uri="{FF2B5EF4-FFF2-40B4-BE49-F238E27FC236}">
                <a16:creationId xmlns:a16="http://schemas.microsoft.com/office/drawing/2014/main" id="{754F1010-AC62-CAE2-BC73-5236DC42A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3338" y="4624388"/>
            <a:ext cx="5191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</a:t>
            </a:r>
          </a:p>
        </p:txBody>
      </p:sp>
      <p:sp>
        <p:nvSpPr>
          <p:cNvPr id="17415" name="TextBox 7">
            <a:extLst>
              <a:ext uri="{FF2B5EF4-FFF2-40B4-BE49-F238E27FC236}">
                <a16:creationId xmlns:a16="http://schemas.microsoft.com/office/drawing/2014/main" id="{EBAD63A6-9056-DC46-FB6E-D6ACB8398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7463" y="4635500"/>
            <a:ext cx="1465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r>
              <a:rPr lang="en-US" altLang="en-US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 account</a:t>
            </a:r>
          </a:p>
        </p:txBody>
      </p:sp>
      <p:pic>
        <p:nvPicPr>
          <p:cNvPr id="17416" name="Picture 3">
            <a:extLst>
              <a:ext uri="{FF2B5EF4-FFF2-40B4-BE49-F238E27FC236}">
                <a16:creationId xmlns:a16="http://schemas.microsoft.com/office/drawing/2014/main" id="{93BD6BA8-0F46-5FDF-05DA-78A8CA8AC3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450" y="2819400"/>
            <a:ext cx="3962400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4192D799-C71A-7D1B-7EA9-F20F30D03F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OOP Basic Concepts (Contd.)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9F389BE9-F84B-0E04-D1EE-E5A366C384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836613"/>
            <a:ext cx="8648700" cy="5334000"/>
          </a:xfrm>
        </p:spPr>
        <p:txBody>
          <a:bodyPr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 b="1" u="sng"/>
              <a:t>Class</a:t>
            </a:r>
            <a:r>
              <a:rPr lang="en-US" altLang="en-US" sz="2400" b="1"/>
              <a:t>: </a:t>
            </a:r>
            <a:r>
              <a:rPr lang="en-US" altLang="en-US" sz="2400"/>
              <a:t>A category of similar objects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Class act as a blueprint for creating object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Class consists of three things: class name,                                      attributes and methods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Attributes are properties of an object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Methods represents actions performed by the                                 object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sz="2400"/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39FF08-0D06-099B-ACEF-16EE05610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343025"/>
            <a:ext cx="2247900" cy="4476750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  <a:softEdge rad="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B3EAE5-D096-DE16-2151-6B3E11586179}"/>
              </a:ext>
            </a:extLst>
          </p:cNvPr>
          <p:cNvSpPr txBox="1"/>
          <p:nvPr/>
        </p:nvSpPr>
        <p:spPr>
          <a:xfrm>
            <a:off x="2198688" y="4343400"/>
            <a:ext cx="4506912" cy="1200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In the code,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student</a:t>
            </a:r>
            <a:r>
              <a:rPr lang="en-US" dirty="0">
                <a:solidFill>
                  <a:srgbClr val="FF0000"/>
                </a:solidFill>
              </a:rPr>
              <a:t> is the class name</a:t>
            </a:r>
          </a:p>
          <a:p>
            <a:pPr>
              <a:defRPr/>
            </a:pPr>
            <a:endParaRPr lang="en-US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In the main function,</a:t>
            </a:r>
          </a:p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two objects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s1</a:t>
            </a:r>
            <a:r>
              <a:rPr lang="en-US" dirty="0">
                <a:solidFill>
                  <a:srgbClr val="FF0000"/>
                </a:solidFill>
              </a:rPr>
              <a:t> and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s2</a:t>
            </a:r>
            <a:r>
              <a:rPr lang="en-US" dirty="0">
                <a:solidFill>
                  <a:srgbClr val="FF0000"/>
                </a:solidFill>
              </a:rPr>
              <a:t> have been created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A3DA5E66-BDF0-C3C1-92C3-C905B6E98E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OOP Basic Concepts (Contd.)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2AA3E64A-DE6B-B0CC-71B4-18943E29F0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836613"/>
            <a:ext cx="8648700" cy="5334000"/>
          </a:xfrm>
        </p:spPr>
        <p:txBody>
          <a:bodyPr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 b="1" u="sng"/>
              <a:t>Another example of class</a:t>
            </a:r>
            <a:r>
              <a:rPr lang="en-US" altLang="en-US" sz="2400" b="1"/>
              <a:t>: </a:t>
            </a:r>
            <a:r>
              <a:rPr lang="en-US" altLang="en-US" sz="2400"/>
              <a:t>A vehicle class containing some          attributes and methods</a:t>
            </a:r>
            <a:endParaRPr lang="en-US" altLang="en-US" sz="2400" b="1" u="sng"/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sz="2400"/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sz="2400"/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sz="2400"/>
          </a:p>
        </p:txBody>
      </p:sp>
      <p:pic>
        <p:nvPicPr>
          <p:cNvPr id="44034" name="Picture 2" descr="Image result for car class">
            <a:extLst>
              <a:ext uri="{FF2B5EF4-FFF2-40B4-BE49-F238E27FC236}">
                <a16:creationId xmlns:a16="http://schemas.microsoft.com/office/drawing/2014/main" id="{F108DCD5-D0D0-A586-56C2-308CEDD43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971675"/>
            <a:ext cx="3810000" cy="2905125"/>
          </a:xfrm>
          <a:prstGeom prst="rect">
            <a:avLst/>
          </a:prstGeom>
          <a:noFill/>
          <a:effectLst>
            <a:glow rad="63500">
              <a:schemeClr val="accent4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D0BF7A8-3F35-17AF-929F-CC0572174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673226"/>
            <a:ext cx="2838450" cy="4010025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9462" name="TextBox 3">
            <a:extLst>
              <a:ext uri="{FF2B5EF4-FFF2-40B4-BE49-F238E27FC236}">
                <a16:creationId xmlns:a16="http://schemas.microsoft.com/office/drawing/2014/main" id="{64727037-F24D-8E6F-97FE-56FD6A402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733800"/>
            <a:ext cx="6096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r>
              <a:rPr lang="en-US" altLang="en-US" sz="1000"/>
              <a:t>C1</a:t>
            </a:r>
          </a:p>
        </p:txBody>
      </p:sp>
      <p:sp>
        <p:nvSpPr>
          <p:cNvPr id="19463" name="TextBox 9">
            <a:extLst>
              <a:ext uri="{FF2B5EF4-FFF2-40B4-BE49-F238E27FC236}">
                <a16:creationId xmlns:a16="http://schemas.microsoft.com/office/drawing/2014/main" id="{E95DC11B-29D6-62FD-EB78-686AD5059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3736975"/>
            <a:ext cx="3810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r>
              <a:rPr lang="en-US" altLang="en-US" sz="1000"/>
              <a:t>C2</a:t>
            </a:r>
          </a:p>
        </p:txBody>
      </p:sp>
      <p:sp>
        <p:nvSpPr>
          <p:cNvPr id="19464" name="TextBox 10">
            <a:extLst>
              <a:ext uri="{FF2B5EF4-FFF2-40B4-BE49-F238E27FC236}">
                <a16:creationId xmlns:a16="http://schemas.microsoft.com/office/drawing/2014/main" id="{5F09D4B3-314A-461F-061B-68A5A770A1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3733800"/>
            <a:ext cx="6096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r>
              <a:rPr lang="en-US" altLang="en-US" sz="1000"/>
              <a:t>C3</a:t>
            </a:r>
          </a:p>
        </p:txBody>
      </p:sp>
      <p:sp>
        <p:nvSpPr>
          <p:cNvPr id="19465" name="TextBox 5">
            <a:extLst>
              <a:ext uri="{FF2B5EF4-FFF2-40B4-BE49-F238E27FC236}">
                <a16:creationId xmlns:a16="http://schemas.microsoft.com/office/drawing/2014/main" id="{8B355B73-E699-5117-85D7-ECBEF10F6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900" y="5087938"/>
            <a:ext cx="34290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r>
              <a:rPr lang="en-US" altLang="en-US" sz="1400">
                <a:solidFill>
                  <a:srgbClr val="FF0000"/>
                </a:solidFill>
              </a:rPr>
              <a:t>Each  copy  of  an object  from  a particular  class  is called  an  instance of the class.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6505D9FF-0A99-7B50-BFE2-DE142CF7E5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Class vs Object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CDD2236A-2E9E-143E-742C-7EEACF395E4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0" y="1295400"/>
          <a:ext cx="7315200" cy="373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3196914184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407376208"/>
                    </a:ext>
                  </a:extLst>
                </a:gridCol>
              </a:tblGrid>
              <a:tr h="58705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179708"/>
                  </a:ext>
                </a:extLst>
              </a:tr>
              <a:tr h="773217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Class is a 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Object is an instance of 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620723"/>
                  </a:ext>
                </a:extLst>
              </a:tr>
              <a:tr h="587051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ii) It generates OBJECTS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ii) It gives life to 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029010"/>
                  </a:ext>
                </a:extLst>
              </a:tr>
              <a:tr h="77321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iii) Does not occupy memory 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iii) It occupies memory 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491018"/>
                  </a:ext>
                </a:extLst>
              </a:tr>
              <a:tr h="101326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iv) It cannot be manipulated 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because it is not available in 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iv) It can be manipulated during runtime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02784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4BD437C5-EF2D-E7E1-7E1E-B2FA8D1770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Basic Features of a Class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00262E6E-4891-F813-EAF6-C33BBEF881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836613"/>
            <a:ext cx="8648700" cy="5334000"/>
          </a:xfrm>
        </p:spPr>
        <p:txBody>
          <a:bodyPr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 dirty="0"/>
              <a:t>All OOP languages, share four common features</a:t>
            </a:r>
          </a:p>
          <a:p>
            <a:pPr marL="914400" lvl="1" indent="-457200" eaLnBrk="1" hangingPunct="1">
              <a:buClrTx/>
              <a:buSzPct val="100000"/>
              <a:buFont typeface="Arial Narrow" panose="020B0606020202030204" pitchFamily="34" charset="0"/>
              <a:buAutoNum type="arabicParenR"/>
            </a:pPr>
            <a:r>
              <a:rPr lang="en-US" altLang="en-US" sz="2000" dirty="0"/>
              <a:t>Encapsulation</a:t>
            </a:r>
          </a:p>
          <a:p>
            <a:pPr marL="914400" lvl="1" indent="-457200" eaLnBrk="1" hangingPunct="1">
              <a:buClrTx/>
              <a:buSzPct val="100000"/>
              <a:buFont typeface="Arial Narrow" panose="020B0606020202030204" pitchFamily="34" charset="0"/>
              <a:buAutoNum type="arabicParenR"/>
            </a:pPr>
            <a:r>
              <a:rPr lang="en-US" altLang="en-US" sz="2000" dirty="0"/>
              <a:t>Polymorphism</a:t>
            </a:r>
          </a:p>
          <a:p>
            <a:pPr marL="914400" lvl="1" indent="-457200" eaLnBrk="1" hangingPunct="1">
              <a:buClrTx/>
              <a:buSzPct val="100000"/>
              <a:buFont typeface="Arial Narrow" panose="020B0606020202030204" pitchFamily="34" charset="0"/>
              <a:buAutoNum type="arabicParenR"/>
            </a:pPr>
            <a:r>
              <a:rPr lang="en-US" altLang="en-US" sz="2000" dirty="0"/>
              <a:t>Inheritance</a:t>
            </a:r>
          </a:p>
          <a:p>
            <a:pPr marL="914400" lvl="1" indent="-457200" eaLnBrk="1" hangingPunct="1">
              <a:buClrTx/>
              <a:buSzPct val="100000"/>
              <a:buFont typeface="Arial Narrow" panose="020B0606020202030204" pitchFamily="34" charset="0"/>
              <a:buAutoNum type="arabicParenR"/>
            </a:pPr>
            <a:r>
              <a:rPr lang="en-US" altLang="en-US" sz="2000" dirty="0"/>
              <a:t>Abstraction</a:t>
            </a:r>
            <a:endParaRPr lang="en-US" altLang="en-US" sz="2400" dirty="0"/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 b="1" dirty="0"/>
              <a:t>Encapsulation</a:t>
            </a:r>
            <a:r>
              <a:rPr lang="en-US" altLang="en-US" sz="2400" dirty="0"/>
              <a:t>: It is the mechanism that binds together code and    the data it manipulates, and keeps both safe from outside               interference and misuse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 dirty="0"/>
              <a:t>It wraps data and functions into a single unit</a:t>
            </a:r>
          </a:p>
        </p:txBody>
      </p:sp>
      <p:pic>
        <p:nvPicPr>
          <p:cNvPr id="21508" name="Picture 1">
            <a:extLst>
              <a:ext uri="{FF2B5EF4-FFF2-40B4-BE49-F238E27FC236}">
                <a16:creationId xmlns:a16="http://schemas.microsoft.com/office/drawing/2014/main" id="{5A9606D0-0527-7441-2A00-EA4A56FA3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163" y="4572000"/>
            <a:ext cx="2986087" cy="148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E1802D78-EA23-8A36-690F-0DEFF8ADC8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Basic Features of a Class (Contd.)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A136C2ED-DA5A-52A3-D1AE-50700F441C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836613"/>
            <a:ext cx="8648700" cy="5334000"/>
          </a:xfrm>
        </p:spPr>
        <p:txBody>
          <a:bodyPr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b="1" dirty="0"/>
              <a:t>Polymorphism</a:t>
            </a:r>
            <a:r>
              <a:rPr lang="en-US" altLang="en-US" sz="2400" dirty="0"/>
              <a:t>: Polymorphism is the quality that allows one        name to be used for two or more related but technically different   purposes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dirty="0"/>
              <a:t>Polymorphism means “many forms”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dirty="0"/>
              <a:t>In C, to find the absolute value of integer, long and float data        types we need to use </a:t>
            </a:r>
            <a:r>
              <a:rPr lang="en-US" altLang="en-US" sz="2400" dirty="0">
                <a:solidFill>
                  <a:schemeClr val="accent5">
                    <a:lumMod val="50000"/>
                  </a:schemeClr>
                </a:solidFill>
              </a:rPr>
              <a:t>abs()</a:t>
            </a:r>
            <a:r>
              <a:rPr lang="en-US" altLang="en-US" sz="2400" dirty="0"/>
              <a:t>, </a:t>
            </a:r>
            <a:r>
              <a:rPr lang="en-US" altLang="en-US" sz="2400" dirty="0">
                <a:solidFill>
                  <a:schemeClr val="accent5">
                    <a:lumMod val="50000"/>
                  </a:schemeClr>
                </a:solidFill>
              </a:rPr>
              <a:t>labs() </a:t>
            </a:r>
            <a:r>
              <a:rPr lang="en-US" altLang="en-US" sz="2400" dirty="0"/>
              <a:t>and 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</a:rPr>
              <a:t>fabs</a:t>
            </a:r>
            <a:r>
              <a:rPr lang="en-US" altLang="en-US" sz="2400" dirty="0">
                <a:solidFill>
                  <a:schemeClr val="accent5">
                    <a:lumMod val="50000"/>
                  </a:schemeClr>
                </a:solidFill>
              </a:rPr>
              <a:t>() </a:t>
            </a:r>
            <a:r>
              <a:rPr lang="en-US" altLang="en-US" sz="2400" dirty="0"/>
              <a:t>function name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dirty="0"/>
              <a:t>But in Java, we can do these for all three data types using </a:t>
            </a:r>
            <a:endParaRPr lang="en-US" altLang="en-US" sz="2400" dirty="0">
              <a:solidFill>
                <a:schemeClr val="accent5">
                  <a:lumMod val="50000"/>
                </a:schemeClr>
              </a:solidFill>
            </a:endParaRPr>
          </a:p>
          <a:p>
            <a:pPr marL="0" indent="0" eaLnBrk="1" hangingPunct="1">
              <a:buClrTx/>
              <a:buSzPct val="100000"/>
              <a:buNone/>
              <a:defRPr/>
            </a:pPr>
            <a:r>
              <a:rPr lang="en-US" altLang="en-US" sz="2400" dirty="0">
                <a:solidFill>
                  <a:schemeClr val="accent5">
                    <a:lumMod val="50000"/>
                  </a:schemeClr>
                </a:solidFill>
              </a:rPr>
              <a:t>     </a:t>
            </a:r>
            <a:r>
              <a:rPr lang="en-US" altLang="en-US" sz="2400" dirty="0" err="1">
                <a:solidFill>
                  <a:schemeClr val="accent5">
                    <a:lumMod val="50000"/>
                  </a:schemeClr>
                </a:solidFill>
              </a:rPr>
              <a:t>Math.abs</a:t>
            </a:r>
            <a:r>
              <a:rPr lang="en-US" altLang="en-US" sz="2400" dirty="0">
                <a:solidFill>
                  <a:schemeClr val="accent5">
                    <a:lumMod val="50000"/>
                  </a:schemeClr>
                </a:solidFill>
              </a:rPr>
              <a:t>()</a:t>
            </a:r>
            <a:r>
              <a:rPr lang="en-US" altLang="en-US" sz="2400" dirty="0"/>
              <a:t>     function name</a:t>
            </a:r>
          </a:p>
          <a:p>
            <a:pPr marL="0" indent="0" eaLnBrk="1" hangingPunct="1">
              <a:buClrTx/>
              <a:buSzPct val="100000"/>
              <a:buFont typeface="Wingdings" panose="05000000000000000000" pitchFamily="2" charset="2"/>
              <a:buNone/>
              <a:defRPr/>
            </a:pPr>
            <a:endParaRPr lang="en-US" altLang="en-US" sz="2400" dirty="0"/>
          </a:p>
        </p:txBody>
      </p:sp>
      <p:pic>
        <p:nvPicPr>
          <p:cNvPr id="22532" name="Picture 2" descr="Image result for polymorphism in c++">
            <a:extLst>
              <a:ext uri="{FF2B5EF4-FFF2-40B4-BE49-F238E27FC236}">
                <a16:creationId xmlns:a16="http://schemas.microsoft.com/office/drawing/2014/main" id="{9690CD85-FB09-981B-B4D9-D2A728A14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267200"/>
            <a:ext cx="2819400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TextBox 2">
            <a:extLst>
              <a:ext uri="{FF2B5EF4-FFF2-40B4-BE49-F238E27FC236}">
                <a16:creationId xmlns:a16="http://schemas.microsoft.com/office/drawing/2014/main" id="{DEEB80BF-EFED-12C8-104E-064E45274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5886450"/>
            <a:ext cx="4640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Fig: Drawing a shape using same function name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B90041-D2C5-1AC5-950F-549E66E68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4373563"/>
            <a:ext cx="262890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r>
              <a:rPr lang="en-US" altLang="en-US" sz="1400">
                <a:solidFill>
                  <a:srgbClr val="FF0000"/>
                </a:solidFill>
              </a:rPr>
              <a:t>Here, depending on the parameter it will draw the shape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139B526D-0E72-F430-7619-D41F2E8E2E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Basic Features of a Class (Contd.)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1EA03626-994F-4AC6-2695-E478F051C9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836613"/>
            <a:ext cx="8648700" cy="5334000"/>
          </a:xfrm>
        </p:spPr>
        <p:txBody>
          <a:bodyPr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 b="1"/>
              <a:t>Inheritance</a:t>
            </a:r>
            <a:r>
              <a:rPr lang="en-US" altLang="en-US" sz="2400"/>
              <a:t>: Inheritance is the process by which one object can acquire the properties of another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An object can inherit a general set of properties from a class and  can also add extra features that are specific only to itself</a:t>
            </a:r>
          </a:p>
        </p:txBody>
      </p:sp>
      <p:pic>
        <p:nvPicPr>
          <p:cNvPr id="23556" name="Picture 3">
            <a:extLst>
              <a:ext uri="{FF2B5EF4-FFF2-40B4-BE49-F238E27FC236}">
                <a16:creationId xmlns:a16="http://schemas.microsoft.com/office/drawing/2014/main" id="{E12F9B90-059D-2AB6-3784-8B286DE252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743200"/>
            <a:ext cx="4591050" cy="311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2E7433-2C51-5793-2D1C-D48D1A44E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2819400"/>
            <a:ext cx="32575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r>
              <a:rPr lang="en-US" altLang="en-US" sz="1400">
                <a:solidFill>
                  <a:srgbClr val="FF0000"/>
                </a:solidFill>
              </a:rPr>
              <a:t>Both flying and non-flying birds have some common properties, but they also have some distinguishing properties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155C80C6-6BCE-F187-14C2-8E5AFADCF1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Benefits of Using OOP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5244A872-1106-31E8-57E8-5CCA0BD5E0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648700" cy="5334000"/>
          </a:xfrm>
        </p:spPr>
        <p:txBody>
          <a:bodyPr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OOP allows multiple instances of an object to co-exist without     any interference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Encapsulation ensures that the data is protected from outside         function blocks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Through inheritance, we can eliminate redundant code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OOP systems can be easily upgraded from small to large systems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400"/>
              <a:t>Software complexity can be easily managed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143B88-1C89-E4FA-63F3-FC0881611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4419600"/>
            <a:ext cx="70866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Main advantage is that, you can create an object which represents some real one, put the logic inside it and hide all the implementation details behind some interface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77E1D9-3702-9CE1-DF7D-F3F554DFBE1F}"/>
              </a:ext>
            </a:extLst>
          </p:cNvPr>
          <p:cNvSpPr txBox="1"/>
          <p:nvPr/>
        </p:nvSpPr>
        <p:spPr>
          <a:xfrm>
            <a:off x="2966400" y="2743200"/>
            <a:ext cx="3211200" cy="861774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bliqueTopLeft"/>
              <a:lightRig rig="threePt" dir="t"/>
            </a:scene3d>
            <a:sp3d extrusionH="57150">
              <a:bevelT w="38100" h="38100"/>
            </a:sp3d>
          </a:bodyPr>
          <a:lstStyle/>
          <a:p>
            <a:pPr>
              <a:defRPr/>
            </a:pPr>
            <a:r>
              <a:rPr lang="en-US" sz="5000" dirty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islab2006-Eng">
  <a:themeElements>
    <a:clrScheme name="1_islab2006-Eng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islab2006-Eng">
      <a:majorFont>
        <a:latin typeface="Arial Narrow"/>
        <a:ea typeface="Gulim"/>
        <a:cs typeface=""/>
      </a:majorFont>
      <a:minorFont>
        <a:latin typeface="Arial Narrow"/>
        <a:ea typeface="Guli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  <a:ea typeface="MS PGothic" pitchFamily="34" charset="-128"/>
          </a:defRPr>
        </a:defPPr>
      </a:lstStyle>
    </a:lnDef>
  </a:objectDefaults>
  <a:extraClrSchemeLst>
    <a:extraClrScheme>
      <a:clrScheme name="1_islab2006-Eng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slab2006-Eng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slab2006-Eng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slab2006-Eng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slab2006-Eng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slab2006-Eng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slab2006-Eng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CSE-template3 (6)</Template>
  <TotalTime>1626</TotalTime>
  <Words>1079</Words>
  <Application>Microsoft Office PowerPoint</Application>
  <PresentationFormat>On-screen Show (4:3)</PresentationFormat>
  <Paragraphs>141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 Narrow</vt:lpstr>
      <vt:lpstr>Calibri</vt:lpstr>
      <vt:lpstr>Tahoma</vt:lpstr>
      <vt:lpstr>Times New Roman</vt:lpstr>
      <vt:lpstr>Wingdings</vt:lpstr>
      <vt:lpstr>1_islab2006-Eng</vt:lpstr>
      <vt:lpstr>Custom Design</vt:lpstr>
      <vt:lpstr>Introduction to Object Oriented         Programming</vt:lpstr>
      <vt:lpstr>Computer Programming</vt:lpstr>
      <vt:lpstr>Generation of Programming Language</vt:lpstr>
      <vt:lpstr>Programming Approaches</vt:lpstr>
      <vt:lpstr>Structured Programming</vt:lpstr>
      <vt:lpstr>Structured Programming (Contd.)</vt:lpstr>
      <vt:lpstr>Object Oriented Programming</vt:lpstr>
      <vt:lpstr>Object Oriented Programming (Contd.)</vt:lpstr>
      <vt:lpstr>Structured vs Objected-oriented Programming</vt:lpstr>
      <vt:lpstr>OOP Basic Concepts</vt:lpstr>
      <vt:lpstr>OOP Basic Concepts (Contd.)</vt:lpstr>
      <vt:lpstr>OOP Basic Concepts (Contd.)</vt:lpstr>
      <vt:lpstr>Class vs Object</vt:lpstr>
      <vt:lpstr>Basic Features of a Class</vt:lpstr>
      <vt:lpstr>Basic Features of a Class (Contd.)</vt:lpstr>
      <vt:lpstr>Basic Features of a Class (Contd.)</vt:lpstr>
      <vt:lpstr>Benefits of Using OOP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priyam</dc:creator>
  <cp:lastModifiedBy>Ashraful Islam Paran</cp:lastModifiedBy>
  <cp:revision>657</cp:revision>
  <dcterms:created xsi:type="dcterms:W3CDTF">2012-03-24T22:43:44Z</dcterms:created>
  <dcterms:modified xsi:type="dcterms:W3CDTF">2026-02-15T17:16:11Z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2025-10-26T12:33:34Z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248d3fd5-07bc-47d9-926d-1556b634441f</vt:lpwstr>
  </property>
  <property fmtid="{D5CDD505-2E9C-101B-9397-08002B2CF9AE}" pid="7" name="MSIP_Label_defa4170-0d19-0005-0004-bc88714345d2_ActionId">
    <vt:lpwstr>56e66ef8-d3f3-4d35-9ab0-074746e2b639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